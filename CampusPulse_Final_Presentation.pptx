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1421</c:v>
                </c:pt>
                <c:pt idx="1">
                  <c:v>794</c:v>
                </c:pt>
                <c:pt idx="2">
                  <c:v>2209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4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83879" y="0"/>
            <a:ext cx="4005072" cy="6858000"/>
          </a:xfrm>
          <a:prstGeom prst="rect">
            <a:avLst/>
          </a:prstGeom>
          <a:solidFill>
            <a:srgbClr val="E2EDFA"/>
          </a:solidFill>
          <a:ln w="10160">
            <a:solidFill>
              <a:srgbClr val="E2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7132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1">
                <a:solidFill>
                  <a:srgbClr val="3069BE"/>
                </a:solidFill>
                <a:latin typeface="Aptos"/>
              </a:rPr>
              <a:t>DATA SCIENCE WITH R  |  FINAL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7132320" cy="1325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4200" b="1">
                <a:solidFill>
                  <a:srgbClr val="192A46"/>
                </a:solidFill>
                <a:latin typeface="Aptos"/>
              </a:rPr>
              <a:t>CampusPulse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68580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300" b="1">
                <a:solidFill>
                  <a:srgbClr val="2C8F91"/>
                </a:solidFill>
                <a:latin typeface="Aptos"/>
              </a:rPr>
              <a:t>Student Engagement &amp;
Dropout Risk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977639"/>
            <a:ext cx="658368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600" b="0">
                <a:solidFill>
                  <a:srgbClr val="354152"/>
                </a:solidFill>
                <a:latin typeface="Aptos"/>
              </a:rPr>
              <a:t>A predictive analytics study of student outcomes using demographic, socioeconomic, enrollment and academic information.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989320"/>
            <a:ext cx="658368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1">
                <a:solidFill>
                  <a:srgbClr val="697689"/>
                </a:solidFill>
                <a:latin typeface="Aptos"/>
              </a:rPr>
              <a:t>UCI Dataset 697  •  Multiclass classification  • 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143000"/>
            <a:ext cx="27889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1298448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1">
                <a:solidFill>
                  <a:srgbClr val="B15753"/>
                </a:solidFill>
                <a:latin typeface="Aptos"/>
              </a:rPr>
              <a:t>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627632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92A46"/>
                </a:solidFill>
                <a:latin typeface="Aptos"/>
              </a:rPr>
              <a:t>1,421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2423160"/>
            <a:ext cx="27889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42832" y="2578608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1">
                <a:solidFill>
                  <a:srgbClr val="2C8F91"/>
                </a:solidFill>
                <a:latin typeface="Aptos"/>
              </a:rPr>
              <a:t>ENROLLED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2832" y="2907792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92A46"/>
                </a:solidFill>
                <a:latin typeface="Aptos"/>
              </a:rPr>
              <a:t>794 students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3703320"/>
            <a:ext cx="2788920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3858768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1">
                <a:solidFill>
                  <a:srgbClr val="3069BE"/>
                </a:solidFill>
                <a:latin typeface="Aptos"/>
              </a:rPr>
              <a:t>GRADUATE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4187952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92A46"/>
                </a:solidFill>
                <a:latin typeface="Aptos"/>
              </a:rPr>
              <a:t>2,209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5989320"/>
            <a:ext cx="26517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/>
            <a:r>
              <a:rPr sz="1000" b="1">
                <a:solidFill>
                  <a:srgbClr val="3069BE"/>
                </a:solidFill>
                <a:latin typeface="Aptos"/>
              </a:rPr>
              <a:t>FINAL MODEL: RANDOM FOREST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01  |  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Why student-outcome analytics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The project identifies patterns associated with academic outcomes to support timely, human-led intervention.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25780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84831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3069BE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4572000" cy="2514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Student difficulties can emerge through multiple academic and non-academic signals.</a:t>
            </a:r>
          </a:p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A single indicator may not capture the full picture.</a:t>
            </a:r>
          </a:p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Institutions need a consistent way to analyse student information at scale.</a:t>
            </a:r>
          </a:p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The three outcomes—Dropout, Enrolled and Graduate—must be distinguished.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3611880"/>
          </a:xfrm>
          <a:prstGeom prst="roundRect">
            <a:avLst>
              <a:gd name="adj" fmla="val 12000"/>
            </a:avLst>
          </a:prstGeom>
          <a:solidFill>
            <a:srgbClr val="E1F2F0"/>
          </a:solidFill>
          <a:ln w="10160">
            <a:solidFill>
              <a:srgbClr val="E1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2084831"/>
            <a:ext cx="47548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2C8F91"/>
                </a:solidFill>
                <a:latin typeface="Aptos"/>
              </a:rPr>
              <a:t>PROJECT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78608"/>
            <a:ext cx="4572000" cy="2514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Explore student data and identify outcome-related patterns.</a:t>
            </a:r>
          </a:p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Compare admission-time and first-semester prediction scenarios.</a:t>
            </a:r>
          </a:p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Evaluate Logistic Regression and Random Forest.</a:t>
            </a:r>
          </a:p>
          <a:p>
            <a:pPr>
              <a:spcAft>
                <a:spcPts val="800"/>
              </a:spcAft>
              <a:defRPr sz="1500">
                <a:solidFill>
                  <a:srgbClr val="354152"/>
                </a:solidFill>
                <a:latin typeface="Aptos"/>
              </a:defRPr>
            </a:pPr>
            <a:r>
              <a:t>Explain model behaviour using feature importance and LIME.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806440"/>
            <a:ext cx="10607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Purpose: decision support for student assistance—not an automated or definitive judgement about an individual.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02  | 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A real-world higher-education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Source: UCI Machine Learning Repository — Predict Students' Dropout and Academic Success (Dataset ID 697).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984248"/>
            <a:ext cx="222199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500" b="1">
                <a:solidFill>
                  <a:srgbClr val="3069BE"/>
                </a:solidFill>
                <a:latin typeface="Aptos"/>
              </a:rPr>
              <a:t>4,424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487168"/>
            <a:ext cx="22219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Student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74519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984248"/>
            <a:ext cx="222199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500" b="1">
                <a:solidFill>
                  <a:srgbClr val="2C8F91"/>
                </a:solidFill>
                <a:latin typeface="Aptos"/>
              </a:rP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487168"/>
            <a:ext cx="22219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Predictor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17336" y="1874519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984248"/>
            <a:ext cx="222199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500" b="1">
                <a:solidFill>
                  <a:srgbClr val="CCA04C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87168"/>
            <a:ext cx="22219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Outcome classes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104" y="1874519"/>
            <a:ext cx="25146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1984248"/>
            <a:ext cx="222199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500" b="1">
                <a:solidFill>
                  <a:srgbClr val="3069BE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487168"/>
            <a:ext cx="222199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Missing values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22960" y="3703320"/>
          <a:ext cx="566928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903720" y="3858768"/>
            <a:ext cx="4297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3069BE"/>
                </a:solidFill>
                <a:latin typeface="Aptos"/>
              </a:rPr>
              <a:t>OUTCOME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315968"/>
            <a:ext cx="4343400" cy="1508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Dropout: 32.12%</a:t>
            </a:r>
          </a:p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Enrolled: 17.95%</a:t>
            </a:r>
          </a:p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Graduate: 49.91%</a:t>
            </a:r>
          </a:p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The target is imbalanced; accuracy is not enough on its own.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190488"/>
            <a:ext cx="105156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697689"/>
                </a:solidFill>
                <a:latin typeface="Aptos"/>
              </a:rPr>
              <a:t>Dataset: https://archive.ics.uci.edu/dataset/697/predict+students+dropout+and+academic+success  |  DOI: 10.24432/C5MC89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03  |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Two prediction scenarios, four model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A shared stratified 80/20 train-test split was used to compare the feature-timing scenarios.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901952"/>
            <a:ext cx="5212080" cy="3520440"/>
          </a:xfrm>
          <a:prstGeom prst="roundRect">
            <a:avLst>
              <a:gd name="adj" fmla="val 12000"/>
            </a:avLst>
          </a:prstGeom>
          <a:solidFill>
            <a:srgbClr val="E2EDFA"/>
          </a:solidFill>
          <a:ln w="10160">
            <a:solidFill>
              <a:srgbClr val="E2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663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3069BE"/>
                </a:solidFill>
                <a:latin typeface="Aptos"/>
              </a:rPr>
              <a:t>SCENARIO A  |  ADMISSION-TIME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45720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92A46"/>
                </a:solidFill>
                <a:latin typeface="Aptos"/>
              </a:rPr>
              <a:t>Uses information available at or around admission.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429000"/>
            <a:ext cx="452628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Demographic and socioeconomic attributes</a:t>
            </a:r>
          </a:p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Admission and previous-qualification information</a:t>
            </a:r>
          </a:p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Enrollment and financial-status indicators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01952"/>
            <a:ext cx="5212080" cy="3520440"/>
          </a:xfrm>
          <a:prstGeom prst="roundRect">
            <a:avLst>
              <a:gd name="adj" fmla="val 12000"/>
            </a:avLst>
          </a:prstGeom>
          <a:solidFill>
            <a:srgbClr val="E1F2F0"/>
          </a:solidFill>
          <a:ln w="10160">
            <a:solidFill>
              <a:srgbClr val="E1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148840"/>
            <a:ext cx="46634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2C8F91"/>
                </a:solidFill>
                <a:latin typeface="Aptos"/>
              </a:rPr>
              <a:t>SCENARIO B  |  FIRST-SEMESTER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70048"/>
            <a:ext cx="45720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700" b="1">
                <a:solidFill>
                  <a:srgbClr val="192A46"/>
                </a:solidFill>
                <a:latin typeface="Aptos"/>
              </a:rPr>
              <a:t>Scenario A plus first-semester academic performance.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452628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First-semester approved curricular units</a:t>
            </a:r>
          </a:p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First-semester grades and evaluations</a:t>
            </a:r>
          </a:p>
          <a:p>
            <a:pPr>
              <a:spcAft>
                <a:spcPts val="800"/>
              </a:spcAft>
              <a:defRPr sz="1300">
                <a:solidFill>
                  <a:srgbClr val="354152"/>
                </a:solidFill>
                <a:latin typeface="Aptos"/>
              </a:defRPr>
            </a:pPr>
            <a:r>
              <a:t>Second-semester features excluded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Models: Multinomial Logistic Regression and Random Forest  •  Evaluation: Accuracy, Macro Precision, Macro Recall, Macro F1 and confusion matrices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04  |  EXPLORATORY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Early patterns visible in the student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Group averages show associations with final outcome; they do not establish causation.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011680"/>
          <a:ext cx="672083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508760"/>
                <a:gridCol w="1645920"/>
                <a:gridCol w="1691640"/>
              </a:tblGrid>
              <a:tr h="53721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Outcome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Average age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Admission grade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1st-semester grade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Dropout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26.1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125.0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7.26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Enrolled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22.4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126.0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11.1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Graduate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21.8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129.0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12.6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18120" y="201168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8F2E2"/>
          </a:solidFill>
          <a:ln w="10160">
            <a:solidFill>
              <a:srgbClr val="F8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267712"/>
            <a:ext cx="29718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CCA04C"/>
                </a:solidFill>
                <a:latin typeface="Aptos"/>
              </a:rPr>
              <a:t>WHAT STANDS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65008" y="2743200"/>
            <a:ext cx="283464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54152"/>
                </a:solidFill>
                <a:latin typeface="Aptos"/>
              </a:defRPr>
            </a:pPr>
            <a:r>
              <a:t>Dropout group has the highest average age.</a:t>
            </a:r>
          </a:p>
          <a:p>
            <a:pPr>
              <a:spcAft>
                <a:spcPts val="800"/>
              </a:spcAft>
              <a:defRPr sz="1200">
                <a:solidFill>
                  <a:srgbClr val="354152"/>
                </a:solidFill>
                <a:latin typeface="Aptos"/>
              </a:defRPr>
            </a:pPr>
            <a:r>
              <a:t>Graduate group has the highest average admission and first-semester grades.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81728"/>
            <a:ext cx="104241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354152"/>
                </a:solidFill>
                <a:latin typeface="Aptos"/>
              </a:rPr>
              <a:t>Interpretation: the observed averages suggest that age and academic-performance indicators differ across outcome groups. These are descriptive patterns in this dataset, not evidence that one variable causes an outcome.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33272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697689"/>
                </a:solidFill>
                <a:latin typeface="Aptos"/>
              </a:rPr>
              <a:t>EDA also included outcome distribution, age, admission-grade and first-semester-grade visualisations.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05  | 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Scenario B delivers the strongest overall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Actual test-set metrics from the executed R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938528"/>
          <a:ext cx="1065275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2423160"/>
                <a:gridCol w="1600200"/>
                <a:gridCol w="1874519"/>
                <a:gridCol w="1783080"/>
                <a:gridCol w="1828800"/>
              </a:tblGrid>
              <a:tr h="46634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Precision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Recall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64.21%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56.08%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53.59%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53.25%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65.80%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59.25%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54.24%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52.95%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73.61%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65.52%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63.92%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63.84%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74.97%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68.72%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64.13%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63.90%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617720"/>
            <a:ext cx="3154680" cy="1234440"/>
          </a:xfrm>
          <a:prstGeom prst="roundRect">
            <a:avLst>
              <a:gd name="adj" fmla="val 12000"/>
            </a:avLst>
          </a:prstGeom>
          <a:solidFill>
            <a:srgbClr val="E2EDFA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4727448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500" b="1">
                <a:solidFill>
                  <a:srgbClr val="3069BE"/>
                </a:solidFill>
                <a:latin typeface="Aptos"/>
              </a:rPr>
              <a:t>74.97%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5230368"/>
            <a:ext cx="286207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Highest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5568696"/>
            <a:ext cx="2862072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0">
                <a:solidFill>
                  <a:srgbClr val="697689"/>
                </a:solidFill>
                <a:latin typeface="Aptos"/>
              </a:rPr>
              <a:t>Scenario B · Random Forest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98848" y="4617720"/>
            <a:ext cx="3154680" cy="1234440"/>
          </a:xfrm>
          <a:prstGeom prst="roundRect">
            <a:avLst>
              <a:gd name="adj" fmla="val 12000"/>
            </a:avLst>
          </a:prstGeom>
          <a:solidFill>
            <a:srgbClr val="E1F2F0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4727448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500" b="1">
                <a:solidFill>
                  <a:srgbClr val="2C8F91"/>
                </a:solidFill>
                <a:latin typeface="Aptos"/>
              </a:rPr>
              <a:t>63.90%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5230368"/>
            <a:ext cx="286207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Highest macro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5568696"/>
            <a:ext cx="2862072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0">
                <a:solidFill>
                  <a:srgbClr val="697689"/>
                </a:solidFill>
                <a:latin typeface="Aptos"/>
              </a:rPr>
              <a:t>Scenario B · Random 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617720"/>
            <a:ext cx="3154680" cy="1234440"/>
          </a:xfrm>
          <a:prstGeom prst="roundRect">
            <a:avLst>
              <a:gd name="adj" fmla="val 12000"/>
            </a:avLst>
          </a:prstGeom>
          <a:solidFill>
            <a:srgbClr val="F8F2E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4727448"/>
            <a:ext cx="2862072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500" b="1">
                <a:solidFill>
                  <a:srgbClr val="CCA04C"/>
                </a:solidFill>
                <a:latin typeface="Aptos"/>
              </a:rPr>
              <a:t>+9.17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5230368"/>
            <a:ext cx="286207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Accuracy gain: B vs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5568696"/>
            <a:ext cx="2862072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0">
                <a:solidFill>
                  <a:srgbClr val="697689"/>
                </a:solidFill>
                <a:latin typeface="Aptos"/>
              </a:rP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53328"/>
            <a:ext cx="105156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0">
                <a:solidFill>
                  <a:srgbClr val="697689"/>
                </a:solidFill>
                <a:latin typeface="Aptos"/>
              </a:rPr>
              <a:t>Macro F1 difference between Scenario B models is small (63.90% vs 63.84%); Random Forest is the best overall by the reported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06  |  CLASS-WISE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The model identifies Graduate and Dropout more reliably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Scenario B Random Forest — class-wise recall and confusion matrix.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011680"/>
          <a:ext cx="37490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1691640"/>
              </a:tblGrid>
              <a:tr h="49149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Actual class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Correctly identified (recall)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Dropout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79.93%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Enrolled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21.52%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Graduate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90.93%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92040" y="1965960"/>
            <a:ext cx="61264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1">
                <a:solidFill>
                  <a:srgbClr val="3069BE"/>
                </a:solidFill>
                <a:latin typeface="Aptos"/>
              </a:rPr>
              <a:t>CONFUSION MATRIX  |  PREDICTED ROWS × ACTUAL COLUMNS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92040" y="2395728"/>
          <a:ext cx="6309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1325880"/>
                <a:gridCol w="1325880"/>
                <a:gridCol w="1417320"/>
              </a:tblGrid>
              <a:tr h="5143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\ Actual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Dropout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Enrolled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Graduate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Dropout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227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27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Enrolled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16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34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Graduate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41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401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4434840"/>
            <a:ext cx="10469880" cy="1051560"/>
          </a:xfrm>
          <a:prstGeom prst="roundRect">
            <a:avLst>
              <a:gd name="adj" fmla="val 12000"/>
            </a:avLst>
          </a:prstGeom>
          <a:solidFill>
            <a:srgbClr val="F8F2E2"/>
          </a:solidFill>
          <a:ln w="10160">
            <a:solidFill>
              <a:srgbClr val="F8F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45152"/>
            <a:ext cx="99669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92A46"/>
                </a:solidFill>
                <a:latin typeface="Aptos"/>
              </a:rPr>
              <a:t>Main limitation: Enrolled recall is only 21.52%. The model often confuses Enrolled students with Dropout or Graduate. Accuracy alone would hide this weakness.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332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697689"/>
                </a:solidFill>
                <a:latin typeface="Aptos"/>
              </a:rPr>
              <a:t>Recall = proportion of actual students in a class that the model correctly identifies.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07  | 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What drives predictions? Feature importance + LIME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Scenario B Random Forest feature importance and one individual LIME 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920240"/>
          <a:ext cx="4983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508760"/>
              </a:tblGrid>
              <a:tr h="4267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Scenario B feature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Importance</a:t>
                      </a:r>
                    </a:p>
                  </a:txBody>
                  <a:tcPr marL="64008" marR="64008" marT="32004" marB="32004">
                    <a:solidFill>
                      <a:srgbClr val="192A4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1st-semester approved units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337.54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1st-semester grade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219.15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Course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162.96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Father's occupation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130.39</a:t>
                      </a:r>
                    </a:p>
                  </a:txBody>
                  <a:tcPr marL="64008" marR="64008" marT="32004" marB="32004"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Tuition fees up to date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354152"/>
                          </a:solidFill>
                          <a:latin typeface="Aptos"/>
                        </a:defRPr>
                      </a:pPr>
                      <a:r>
                        <a:t>111.06</a:t>
                      </a:r>
                    </a:p>
                  </a:txBody>
                  <a:tcPr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053328" y="1920240"/>
            <a:ext cx="5394960" cy="2560320"/>
          </a:xfrm>
          <a:prstGeom prst="roundRect">
            <a:avLst>
              <a:gd name="adj" fmla="val 12000"/>
            </a:avLst>
          </a:prstGeom>
          <a:solidFill>
            <a:srgbClr val="E2EDFA"/>
          </a:solidFill>
          <a:ln w="10160">
            <a:solidFill>
              <a:srgbClr val="E2ED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48006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3069BE"/>
                </a:solidFill>
                <a:latin typeface="Aptos"/>
              </a:rPr>
              <a:t>LIME: ONE TEST-STUDENT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578608"/>
            <a:ext cx="47091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800" b="1">
                <a:solidFill>
                  <a:srgbClr val="192A46"/>
                </a:solidFill>
                <a:latin typeface="Aptos"/>
              </a:rPr>
              <a:t>Predicted class: DROPOUT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044952"/>
            <a:ext cx="46634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2C8F91"/>
                </a:solidFill>
                <a:latin typeface="Aptos"/>
              </a:rPr>
              <a:t>Model score: 86.16%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3493008"/>
            <a:ext cx="4617720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354152"/>
                </a:solidFill>
                <a:latin typeface="Aptos"/>
              </a:defRPr>
            </a:pPr>
            <a:r>
              <a:t>Strongest positive contributors: tuition-fee status (+0.2567) and zero approved first-semester units (+0.2055).</a:t>
            </a:r>
          </a:p>
          <a:p>
            <a:pPr>
              <a:spcAft>
                <a:spcPts val="800"/>
              </a:spcAft>
              <a:defRPr sz="1100">
                <a:solidFill>
                  <a:srgbClr val="354152"/>
                </a:solidFill>
                <a:latin typeface="Aptos"/>
              </a:defRPr>
            </a:pPr>
            <a:r>
              <a:t>LIME weights explain this individual prediction; they are not causal effects.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103327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0">
                <a:solidFill>
                  <a:srgbClr val="354152"/>
                </a:solidFill>
                <a:latin typeface="Aptos"/>
              </a:rPr>
              <a:t>Interpretation: once first-semester information is available, approved units and grades become the most influential predictors. Feature importance describes predictive contribution, not cause and effect.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10332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900" b="0">
                <a:solidFill>
                  <a:srgbClr val="697689"/>
                </a:solidFill>
                <a:latin typeface="Aptos"/>
              </a:rPr>
              <a:t>LIME local weights also included first-semester grade (+0.1080), nationality (−0.0975), scholarship holder (+0.0662), debtor (−0.0490), international (−0.0430), and educational special needs (−0.0285).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08  |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CampusPulse demonstrates the value of timing-aware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The study compares what can be predicted at admission with what becomes clearer after the first semester.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5212080" cy="3429000"/>
          </a:xfrm>
          <a:prstGeom prst="roundRect">
            <a:avLst>
              <a:gd name="adj" fmla="val 12000"/>
            </a:avLst>
          </a:prstGeom>
          <a:solidFill>
            <a:srgbClr val="E1F2F0"/>
          </a:solidFill>
          <a:ln w="10160">
            <a:solidFill>
              <a:srgbClr val="E1F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9456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2C8F91"/>
                </a:solidFill>
                <a:latin typeface="Aptos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70048"/>
            <a:ext cx="45262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Adding first-semester data improves accuracy by about 9 percentage points.</a:t>
            </a:r>
          </a:p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Scenario B Random Forest achieved 74.97% accuracy and 63.90% macro F1.</a:t>
            </a:r>
          </a:p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Dropout and Graduate are identified more reliably than Enrolled.</a:t>
            </a:r>
          </a:p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Feature importance and LIME add interpretability.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38528"/>
            <a:ext cx="521208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3069BE"/>
                </a:solidFill>
                <a:latin typeface="Aptos"/>
              </a:rPr>
              <a:t>LIMITATIONS &amp; RESPONSIBLE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670048"/>
            <a:ext cx="45262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Enrolled-class recall remains low.</a:t>
            </a:r>
          </a:p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Results depend on this dataset and the chosen train-test split.</a:t>
            </a:r>
          </a:p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LIME explains a local model prediction, not a student's actual future.</a:t>
            </a:r>
          </a:p>
          <a:p>
            <a:pPr>
              <a:spcAft>
                <a:spcPts val="800"/>
              </a:spcAft>
              <a:defRPr sz="1400">
                <a:solidFill>
                  <a:srgbClr val="354152"/>
                </a:solidFill>
                <a:latin typeface="Aptos"/>
              </a:defRPr>
            </a:pPr>
            <a:r>
              <a:t>Use predictions to guide supportive human review—not punitive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2412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192A46"/>
                </a:solidFill>
                <a:latin typeface="Aptos"/>
              </a:rPr>
              <a:t>Future scope: improve Enrolled-class detection, validate on additional cohorts, and develop a carefully governed support dashboard.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108813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3069BE"/>
                </a:solidFill>
                <a:latin typeface="Aptos"/>
              </a:rPr>
              <a:t>09  | 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2700" b="1">
                <a:solidFill>
                  <a:srgbClr val="192A46"/>
                </a:solidFill>
                <a:latin typeface="Aptos"/>
              </a:rPr>
              <a:t>Dataset, methods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52144"/>
            <a:ext cx="109728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697689"/>
                </a:solidFill>
                <a:latin typeface="Aptos"/>
              </a:rPr>
              <a:t>Primary source and software used in the CampusPulse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572768"/>
            <a:ext cx="658368" cy="41148"/>
          </a:xfrm>
          <a:prstGeom prst="rect">
            <a:avLst/>
          </a:prstGeom>
          <a:solidFill>
            <a:srgbClr val="2C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/>
            <a:r>
              <a:rPr sz="900" b="1">
                <a:solidFill>
                  <a:srgbClr val="697689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38528"/>
            <a:ext cx="1056132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12848"/>
            <a:ext cx="98755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300" b="1">
                <a:solidFill>
                  <a:srgbClr val="3069BE"/>
                </a:solidFill>
                <a:latin typeface="Aptos"/>
              </a:rPr>
              <a:t>PRIMARY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70048"/>
            <a:ext cx="9784080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500" b="1">
                <a:solidFill>
                  <a:srgbClr val="192A46"/>
                </a:solidFill>
                <a:latin typeface="Aptos"/>
              </a:rPr>
              <a:t>Realinho, V., Vieira Martins, M., Machado, J., &amp; Baptista, L. (2021). Predict Students' Dropout and Academic Success. UCI Machine Learning Repository, Dataset 697.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93008"/>
            <a:ext cx="97840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1">
                <a:solidFill>
                  <a:srgbClr val="2C8F91"/>
                </a:solidFill>
                <a:latin typeface="Aptos"/>
              </a:rPr>
              <a:t>DOI: 10.24432/C5MC89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77639"/>
            <a:ext cx="9784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100" b="0">
                <a:solidFill>
                  <a:srgbClr val="3069BE"/>
                </a:solidFill>
                <a:latin typeface="Aptos"/>
              </a:rPr>
              <a:t>Dataset URL: https://archive.ics.uci.edu/dataset/697/predict+students+dropout+and+academic+success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17720"/>
            <a:ext cx="9784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200" b="0">
                <a:solidFill>
                  <a:srgbClr val="354152"/>
                </a:solidFill>
                <a:latin typeface="Aptos"/>
              </a:rPr>
              <a:t>Implementation: R in Google Colab. Packages: tidyverse, janitor, caret, nnet, randomForest, lime, ggplot2 and rmarkdown.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897880"/>
            <a:ext cx="103327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r>
              <a:rPr sz="1000" b="1">
                <a:solidFill>
                  <a:srgbClr val="697689"/>
                </a:solidFill>
                <a:latin typeface="Aptos"/>
              </a:rPr>
              <a:t>CampusPulse  |  Student Engagement &amp; Dropout Risk Analytics  |  Data Science with 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